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035040" cy="6035040"/>
          </a:xfrm>
          <a:prstGeom prst="ellipse">
            <a:avLst/>
          </a:prstGeom>
          <a:solidFill>
            <a:srgbClr val="FF5A5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051560"/>
            <a:ext cx="822960" cy="8229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0972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8308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CỘNG ĐỒNG  •  BUỔI HỌC TỐI NAY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7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BẬC THẦY</a:t>
            </a:r>
            <a:endParaRPr lang="en-US" sz="7400" dirty="0"/>
          </a:p>
          <a:p>
            <a:pPr indent="0" marL="0">
              <a:lnSpc>
                <a:spcPts val="7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7400" dirty="0"/>
          </a:p>
        </p:txBody>
      </p:sp>
      <p:sp>
        <p:nvSpPr>
          <p:cNvPr id="8" name="Text 6"/>
          <p:cNvSpPr/>
          <p:nvPr/>
        </p:nvSpPr>
        <p:spPr>
          <a:xfrm>
            <a:off x="777240" y="4526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Viral &amp; Nghệ thuật bán hàng đỉnh cao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335024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591056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847088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   ·   Tư duy sát thủ bán hàng   ·   5 công thức HOOK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Bạn có đang gặp những điều này?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4B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868680" cy="868680"/>
          </a:xfrm>
          <a:prstGeom prst="ellipse">
            <a:avLst/>
          </a:prstGeom>
          <a:solidFill>
            <a:srgbClr val="EEF1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Đăng bài mỗi ngày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67588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...mà vẫn không có khách hàng nào ghé đến?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4B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194560"/>
            <a:ext cx="868680" cy="868680"/>
          </a:xfrm>
          <a:prstGeom prst="ellipse">
            <a:avLst/>
          </a:prstGeom>
          <a:solidFill>
            <a:srgbClr val="EEF1F8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🕸️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36008" y="3200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tháng chỉ 1 đơn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36008" y="367588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...thậm chí có tháng không nổi một đơn nào?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87452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4BF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194560"/>
            <a:ext cx="868680" cy="868680"/>
          </a:xfrm>
          <a:prstGeom prst="ellipse">
            <a:avLst/>
          </a:prstGeom>
          <a:solidFill>
            <a:srgbClr val="EE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57616" y="3200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Viết content lộn xộn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57616" y="367588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...không biết bắt đầu từ đâu, viết xong lại bỏ?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14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892040"/>
            <a:ext cx="10149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cần MỘT CÔNG THỨC </a:t>
            </a:r>
            <a:pPr indent="0" marL="0">
              <a:buNone/>
            </a:pPr>
            <a:r>
              <a:rPr lang="en-US" sz="2000" dirty="0">
                <a:solidFill>
                  <a:srgbClr val="C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viết content ra khách — ra doanh thu — ra tiền.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là gì?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là mọi cách bạn KẾT NỐI với khách hàng: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32888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33172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Kể chuyện, tâm sự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03320" y="2331720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86200" y="2532888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0" name="Text 8"/>
          <p:cNvSpPr/>
          <p:nvPr/>
        </p:nvSpPr>
        <p:spPr>
          <a:xfrm>
            <a:off x="4270248" y="233172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ứng xử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374136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31729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bài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03320" y="3172968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86200" y="3374136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270248" y="31729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014216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215384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207008" y="401421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Livestream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03320" y="4014216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4215384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270248" y="401421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Content là thứ </a:t>
            </a:r>
            <a:pPr indent="0" marL="0">
              <a:buNone/>
            </a:pPr>
            <a:r>
              <a:rPr lang="en-US" sz="17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CHÂN khách hàng</a:t>
            </a:r>
            <a:pPr indent="0" marL="0">
              <a:buNone/>
            </a:pPr>
            <a:r>
              <a:rPr lang="en-US" sz="17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năng lực số 1 trong bán hàng.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269480" y="1783080"/>
            <a:ext cx="4279392" cy="4069080"/>
          </a:xfrm>
          <a:prstGeom prst="roundRect">
            <a:avLst>
              <a:gd name="adj" fmla="val 3146"/>
            </a:avLst>
          </a:prstGeom>
          <a:solidFill>
            <a:srgbClr val="14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5240" y="2148840"/>
            <a:ext cx="868680" cy="86868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635240" y="3200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chỉ là CÔNG CỤ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35240" y="37947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mới là gốc rễ.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tư duy tốt thì mới dùng công cụ giỏi. Đừng để công cụ dẫn dắt bạn.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solidFill>
            <a:srgbClr val="FF5A5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4754880" cy="475488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NGUYÊN TẮC VÀNG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Bí quyết để mỗi content của bạn trở nên VIRAL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Shape 7"/>
          <p:cNvSpPr/>
          <p:nvPr/>
        </p:nvSpPr>
        <p:spPr>
          <a:xfrm>
            <a:off x="1426464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0" name="Shape 8"/>
          <p:cNvSpPr/>
          <p:nvPr/>
        </p:nvSpPr>
        <p:spPr>
          <a:xfrm>
            <a:off x="1682496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1" name="Shape 9"/>
          <p:cNvSpPr/>
          <p:nvPr/>
        </p:nvSpPr>
        <p:spPr>
          <a:xfrm>
            <a:off x="1938528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Bắt đầu — Chặn đứng người xem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00300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003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19385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Đúng nỗi đau — gọi thẳng tên vấn đề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94560" y="2450592"/>
            <a:ext cx="9235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Nhắm đúng MỘT đối tượng, không làm màu, không tham lam ôm hết. Nói trúng điều họ đang trăn trở.</a:t>
            </a:r>
            <a:pPr indent="0" marL="0">
              <a:lnSpc>
                <a:spcPts val="2000"/>
              </a:lnSpc>
              <a:buNone/>
            </a:pP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VD: “Đăng 10 bài/ngày mà vẫn không ra đơn?”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25112"/>
            <a:ext cx="109087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988052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9880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94560" y="45262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Bùng nổ trong 3 giây đầu tiên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94560" y="5038344"/>
            <a:ext cx="9235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giây đầu không phải là VÀNG — mà là KIM CƯƠNG. Đầu xuôi thì đuôi mới lọt. Ấn tượng đầu tiên quyết định người xem dừng lại hay lướt.</a:t>
            </a:r>
            <a:pPr indent="0" marL="0">
              <a:lnSpc>
                <a:spcPts val="2000"/>
              </a:lnSpc>
              <a:buNone/>
            </a:pP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VD: “Bạn tôi từng vỡ nợ — và đây là cách anh ấy trả hết 25 tỷ...”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 &amp; Cảm xúc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00300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003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19385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 thật — xem xong khách nhận được gì?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94560" y="2450592"/>
            <a:ext cx="9235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Đừng làm nội dung vô thưởng vô phạt. Content phải mang giá trị hoặc truyền cảm hứng cho người xem — chứ không chỉ để câu view.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25112"/>
            <a:ext cx="109087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988052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9880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94560" y="45262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Chạm cảm xúc trước khi dạy kiến thức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94560" y="5038344"/>
            <a:ext cx="9235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xong phải thấy thương, nghẹn ngào, tâm đắc, đáng yêu... Cảm xúc dẫn dắt trước, kiến thức theo sau.</a:t>
            </a:r>
            <a:pPr indent="0" marL="0">
              <a:lnSpc>
                <a:spcPts val="2000"/>
              </a:lnSpc>
              <a:buNone/>
            </a:pP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VD: Xem video “Tam Hoa Sen” — cảm xúc kéo người xem ở lại đến cuối.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Đơn giản &amp; Nhất quán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7510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7510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19385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Dễ hiểu — Dễ nhớ — Dễ làm theo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94560" y="245059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 sao cho người nghe hiểu ngay, nhớ được và bắt tay làm được.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71246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1246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94560" y="36758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Content = 1 Thông điệp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94560" y="418795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Đừng lan man. Ví dụ làm vlog: mỗi video chỉ tập trung truyền tải MỘT thông điệp duy nhất.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44982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44982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194560" y="54132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 dấu ấn cá nhân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94560" y="592531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Kể chuyện đời thật của chính bạn — càng chi tiết càng thật, càng thật càng có sức thuyết phục.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Thuyết phục &amp; Kêu gọi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7510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7510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19385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Nhiều “điểm gãi đúng chỗ”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94560" y="245059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nhiều chi tiết khiến người xem gật gù “đúng rồi, đúng ý mình”.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71246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1246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94560" y="36758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 bằng chứng thật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94560" y="418795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chỉ xem mà không thấy bằng chứng thì không bao giờ xuống tiền. Hãy đưa kết quả, hình ảnh, con số thật.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44982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44982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194560" y="54132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Luôn có kêu gọi hành động (CTA)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94560" y="592531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 bằng lời kêu gọi rõ ràng: dẫn vào link, nhắn tin, để lại thông tin.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solidFill>
            <a:srgbClr val="FF5A5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4754880" cy="475488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SÁT THỦ BÁN HÀNG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&amp; kỹ năng để phục vụ mọi loại khách hàng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Shape 7"/>
          <p:cNvSpPr/>
          <p:nvPr/>
        </p:nvSpPr>
        <p:spPr>
          <a:xfrm>
            <a:off x="1426464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0" name="Shape 8"/>
          <p:cNvSpPr/>
          <p:nvPr/>
        </p:nvSpPr>
        <p:spPr>
          <a:xfrm>
            <a:off x="1682496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1" name="Shape 9"/>
          <p:cNvSpPr/>
          <p:nvPr/>
        </p:nvSpPr>
        <p:spPr>
          <a:xfrm>
            <a:off x="1938528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BÁN HÀNG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 năng của một “sát thủ bán hàng”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bằng sự thấu hiểu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mình vào vị trí khách, hiểu điều họ thực sự cần trước khi bán.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843784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43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679192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tâm lý phục vụ MỌI loại khách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tinh thần xử lý vấn đề thay vì né tránh khách khó.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39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575304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không bao giờ hoàn hảo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sản phẩm nào đáp ứng được hết — hãy chủ động chuẩn bị lời giải.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71416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471416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sẵn 20 tình huống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ra trước 20 tình huống có thể xảy ra với sản phẩm của bạn.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67528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532120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367528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câu hỏi để GIỮ khách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không phải để bán ngay — mà để giữ khách ở lại lâu hơn.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solidFill>
            <a:srgbClr val="FF5A5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4754880" cy="475488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THỨC HOOK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chân khách hàng ngay từ câu nói đầu tiên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Shape 7"/>
          <p:cNvSpPr/>
          <p:nvPr/>
        </p:nvSpPr>
        <p:spPr>
          <a:xfrm>
            <a:off x="1426464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0" name="Shape 8"/>
          <p:cNvSpPr/>
          <p:nvPr/>
        </p:nvSpPr>
        <p:spPr>
          <a:xfrm>
            <a:off x="1682496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1" name="Shape 9"/>
          <p:cNvSpPr/>
          <p:nvPr/>
        </p:nvSpPr>
        <p:spPr>
          <a:xfrm>
            <a:off x="1938528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🔄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TÔI TỪNG SAI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Tôi từng + [sai lầm cụ thể] + cho đến khi...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 thích xem sự CHUYỂN ĐỔI: từ thất bại → thành công.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Càng cụ thể (con số, thời gian, tình huống) càng thật.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Càng thật thì càng giữ chân người xem đến cuối.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“Tôi từng làm affiliate 6 tháng không ra 1 đơn, cho đến khi tôi phát hiện ra một thứ trong video...”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🚫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ĐỪNG MUA NẾU...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Đừng mua nếu... bạn không muốn [kết quả]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“Cấm nhẹ” một cách khéo léo → gây tò mò mạnh mẽ.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Tâm lý con người: càng bị cấm cái gì, càng muốn cái đó.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xem tự thuyết phục chính mình muốn tìm hiểu tiếp.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“Đừng mua khoá học này nếu bạn không muốn bán được hàng.”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🤫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SỰ THẬT ÍT AI NÓI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Sự thật về... mà [người bán] không nói cho bạn biết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xem thích cảm giác được ở “phe nội bộ”.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muốn biết điều mà số đông không biết.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PHẢI là sự thật — nói dối là mất uy tín ngay từ đầu.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“Sự thật về ngành này mà không một người bán hàng nào nói cho bạn biết.”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⚖️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GÂY TÒ MÒ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[Giá thấp]... nhưng nhìn như [giá trị cao]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bộ bị hấp dẫn bởi sự CHÊNH LỆCH.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giữa giá &amp; giá trị tạo cảm giác “hời”.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phải đủ lớn (3–5 lần) và chứng minh được ngay.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“700k nhưng nhìn như 5 triệu.”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🪞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CÁI TÔI CỦA KHÁCH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Nếu bạn là [1 kiểu người]... → cái này dành cho bạn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đúng tên, đúng nỗi đau → khách thấy “video này dành riêng cho mình”.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kép: giữ đúng khách mục tiêu + đuổi khéo khách không liên quan.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Thuật toán hiểu và đề xuất đúng tệp khách hơn.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“Nếu bạn làm affiliate mà chưa hiệu quả — video này dành cho bạn.”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035040" cy="6035040"/>
          </a:xfrm>
          <a:prstGeom prst="ellipse">
            <a:avLst/>
          </a:prstGeom>
          <a:solidFill>
            <a:srgbClr val="FFC93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NHỚ &amp; HÀNH ĐỘNG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ra tiền = 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E274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nỗi đau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18688" y="2148840"/>
            <a:ext cx="274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93008" y="2148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E2742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2148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cảm xúc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80176" y="2148840"/>
            <a:ext cx="274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54496" y="2148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E2742"/>
          </a:solidFill>
          <a:ln/>
        </p:spPr>
      </p:sp>
      <p:sp>
        <p:nvSpPr>
          <p:cNvPr id="13" name="Text 11"/>
          <p:cNvSpPr/>
          <p:nvPr/>
        </p:nvSpPr>
        <p:spPr>
          <a:xfrm>
            <a:off x="6391656" y="2148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thật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41664" y="2148840"/>
            <a:ext cx="274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015984" y="2148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E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2148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Kêu gọi hành động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trước, công cụ sau.  </a:t>
            </a:r>
            <a:pPr indent="0" marL="0">
              <a:buNone/>
            </a:pPr>
            <a:r>
              <a:rPr lang="en-US" sz="1800" dirty="0">
                <a:solidFill>
                  <a:srgbClr val="C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là trợ thủ — bạn mới là người cầm lái.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10725912" cy="1508760"/>
          </a:xfrm>
          <a:prstGeom prst="roundRect">
            <a:avLst>
              <a:gd name="adj" fmla="val 7273"/>
            </a:avLst>
          </a:prstGeom>
          <a:solidFill>
            <a:srgbClr val="FF5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Bài tập tối nay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ngay 1 content theo 1 trong 5 công thức HOOK — và đăng lên!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 Thay Content</dc:title>
  <dc:subject>PptxGenJS Presentation</dc:subject>
  <dc:creator>Lop Cong Dong</dc:creator>
  <cp:lastModifiedBy>Lop Cong Dong</cp:lastModifiedBy>
  <cp:revision>1</cp:revision>
  <dcterms:created xsi:type="dcterms:W3CDTF">2026-08-08T02:24:08Z</dcterms:created>
  <dcterms:modified xsi:type="dcterms:W3CDTF">2026-08-08T02:24:08Z</dcterms:modified>
</cp:coreProperties>
</file>