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6035040" cy="6035040"/>
          </a:xfrm>
          <a:prstGeom prst="ellipse">
            <a:avLst/>
          </a:prstGeom>
          <a:solidFill>
            <a:srgbClr val="FF5A5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108960"/>
            <a:ext cx="4206240" cy="420624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292608"/>
            <a:ext cx="3694176" cy="6053328"/>
          </a:xfrm>
          <a:prstGeom prst="roundRect">
            <a:avLst>
              <a:gd name="adj" fmla="val 2475"/>
            </a:avLst>
          </a:prstGeom>
          <a:solidFill>
            <a:srgbClr val="0E1322"/>
          </a:solidFill>
          <a:ln w="15875">
            <a:solidFill>
              <a:srgbClr val="FFC93C"/>
            </a:solidFill>
            <a:prstDash val="solid"/>
          </a:ln>
          <a:effectLst>
            <a:outerShdw sx="100000" sy="100000" kx="0" ky="0" algn="bl" rotWithShape="0" blurRad="177800" dist="63500" dir="5400000">
              <a:srgbClr val="05070C">
                <a:alpha val="55000"/>
              </a:srgbClr>
            </a:outerShdw>
          </a:effectLst>
        </p:spPr>
      </p:sp>
      <p:pic>
        <p:nvPicPr>
          <p:cNvPr id="5" name="Image 0" descr="portrai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0" y="566928"/>
            <a:ext cx="3145536" cy="55046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03920" y="566928"/>
            <a:ext cx="3145536" cy="5504688"/>
          </a:xfrm>
          <a:prstGeom prst="roundRect">
            <a:avLst>
              <a:gd name="adj" fmla="val 1163"/>
            </a:avLst>
          </a:prstGeom>
          <a:ln w="9525">
            <a:solidFill>
              <a:srgbClr val="FFC93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7240" y="1051560"/>
            <a:ext cx="822960" cy="82296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8" name="Text 5"/>
          <p:cNvSpPr/>
          <p:nvPr/>
        </p:nvSpPr>
        <p:spPr>
          <a:xfrm>
            <a:off x="658368" y="1097280"/>
            <a:ext cx="1051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10+5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78308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LỚP CỘNG ĐỒNG  •  BUỔI HỌC TỐI NAY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196596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7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BẬC THẦY</a:t>
            </a:r>
            <a:endParaRPr lang="en-US" sz="7400" dirty="0"/>
          </a:p>
          <a:p>
            <a:pPr indent="0" marL="0">
              <a:lnSpc>
                <a:spcPts val="7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</a:t>
            </a:r>
            <a:endParaRPr lang="en-US" sz="7400" dirty="0"/>
          </a:p>
        </p:txBody>
      </p:sp>
      <p:sp>
        <p:nvSpPr>
          <p:cNvPr id="11" name="Text 8"/>
          <p:cNvSpPr/>
          <p:nvPr/>
        </p:nvSpPr>
        <p:spPr>
          <a:xfrm>
            <a:off x="777240" y="45262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B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Viral &amp; Nghệ thuật bán hàng đỉnh cao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22960" y="5532120"/>
            <a:ext cx="109728" cy="109728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3" name="Shape 10"/>
          <p:cNvSpPr/>
          <p:nvPr/>
        </p:nvSpPr>
        <p:spPr>
          <a:xfrm>
            <a:off x="1078992" y="5532120"/>
            <a:ext cx="109728" cy="109728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4" name="Shape 11"/>
          <p:cNvSpPr/>
          <p:nvPr/>
        </p:nvSpPr>
        <p:spPr>
          <a:xfrm>
            <a:off x="1335024" y="5532120"/>
            <a:ext cx="109728" cy="109728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5" name="Shape 12"/>
          <p:cNvSpPr/>
          <p:nvPr/>
        </p:nvSpPr>
        <p:spPr>
          <a:xfrm>
            <a:off x="1591056" y="5532120"/>
            <a:ext cx="109728" cy="109728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6" name="Shape 13"/>
          <p:cNvSpPr/>
          <p:nvPr/>
        </p:nvSpPr>
        <p:spPr>
          <a:xfrm>
            <a:off x="1847088" y="5532120"/>
            <a:ext cx="109728" cy="109728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580644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Nguyên tắc content viral   ·   Tư duy sát thủ bán hàng   ·   5 công thức HOOK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ĐẦU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Bạn có đang gặp những điều này?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9AA4BF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868680" cy="868680"/>
          </a:xfrm>
          <a:prstGeom prst="ellipse">
            <a:avLst/>
          </a:prstGeom>
          <a:solidFill>
            <a:srgbClr val="EEF1F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📉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Đăng bài mỗi ngày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367588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...mà vẫn không có khách hàng nào ghé đến?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61688" y="1874520"/>
            <a:ext cx="34290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9AA4BF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36008" y="2194560"/>
            <a:ext cx="868680" cy="868680"/>
          </a:xfrm>
          <a:prstGeom prst="ellipse">
            <a:avLst/>
          </a:prstGeom>
          <a:solidFill>
            <a:srgbClr val="EEF1F8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21945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🕸️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36008" y="32004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 tháng chỉ 1 đơn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36008" y="367588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...thậm chí có tháng không nổi một đơn nào?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83296" y="1874520"/>
            <a:ext cx="34290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9AA4BF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2194560"/>
            <a:ext cx="868680" cy="868680"/>
          </a:xfrm>
          <a:prstGeom prst="ellipse">
            <a:avLst/>
          </a:prstGeom>
          <a:solidFill>
            <a:srgbClr val="EEF1F8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21945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✍️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57616" y="3200400"/>
            <a:ext cx="2880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Viết content lộn xộn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57616" y="3675888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...không biết bắt đầu từ đâu, viết xong lại bỏ?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892040"/>
            <a:ext cx="10908792" cy="1234440"/>
          </a:xfrm>
          <a:prstGeom prst="roundRect">
            <a:avLst>
              <a:gd name="adj" fmla="val 7407"/>
            </a:avLst>
          </a:prstGeom>
          <a:solidFill>
            <a:srgbClr val="141A2E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892040"/>
            <a:ext cx="101498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cần MỘT CÔNG THỨC </a:t>
            </a:r>
            <a:pPr indent="0" marL="0">
              <a:buNone/>
            </a:pPr>
            <a:r>
              <a:rPr lang="en-US" sz="2000" dirty="0">
                <a:solidFill>
                  <a:srgbClr val="CB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để viết content ra khách — ra doanh thu — ra tiền.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là gì?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là mọi cách bạn KẾT NỐI với khách hàng: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880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0D6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32888"/>
            <a:ext cx="256032" cy="25603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7" name="Text 5"/>
          <p:cNvSpPr/>
          <p:nvPr/>
        </p:nvSpPr>
        <p:spPr>
          <a:xfrm>
            <a:off x="1207008" y="2331720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Kể chuyện, tâm sự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703320" y="2331720"/>
            <a:ext cx="2880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0D6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886200" y="2532888"/>
            <a:ext cx="256032" cy="25603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0" name="Text 8"/>
          <p:cNvSpPr/>
          <p:nvPr/>
        </p:nvSpPr>
        <p:spPr>
          <a:xfrm>
            <a:off x="4270248" y="2331720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&amp; ứng xử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172968"/>
            <a:ext cx="2880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0D6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2960" y="3374136"/>
            <a:ext cx="256032" cy="25603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3" name="Text 11"/>
          <p:cNvSpPr/>
          <p:nvPr/>
        </p:nvSpPr>
        <p:spPr>
          <a:xfrm>
            <a:off x="1207008" y="317296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Đăng bài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703320" y="3172968"/>
            <a:ext cx="2880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0D6">
                <a:alpha val="4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86200" y="3374136"/>
            <a:ext cx="256032" cy="25603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270248" y="3172968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014216"/>
            <a:ext cx="2880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0D6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" y="4215384"/>
            <a:ext cx="256032" cy="25603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9" name="Text 17"/>
          <p:cNvSpPr/>
          <p:nvPr/>
        </p:nvSpPr>
        <p:spPr>
          <a:xfrm>
            <a:off x="1207008" y="4014216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Livestream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703320" y="4014216"/>
            <a:ext cx="28803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0D6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86200" y="4215384"/>
            <a:ext cx="256032" cy="256032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22" name="Text 20"/>
          <p:cNvSpPr/>
          <p:nvPr/>
        </p:nvSpPr>
        <p:spPr>
          <a:xfrm>
            <a:off x="4270248" y="4014216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502920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Content là thứ </a:t>
            </a:r>
            <a:pPr indent="0" marL="0">
              <a:buNone/>
            </a:pPr>
            <a:r>
              <a:rPr lang="en-US" sz="1700" b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CHÂN khách hàng</a:t>
            </a:r>
            <a:pPr indent="0" marL="0">
              <a:buNone/>
            </a:pPr>
            <a:r>
              <a:rPr lang="en-US" sz="17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năng lực số 1 trong bán hàng.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7269480" y="1783080"/>
            <a:ext cx="4279392" cy="4069080"/>
          </a:xfrm>
          <a:prstGeom prst="roundRect">
            <a:avLst>
              <a:gd name="adj" fmla="val 3146"/>
            </a:avLst>
          </a:prstGeom>
          <a:solidFill>
            <a:srgbClr val="141A2E"/>
          </a:solidFill>
          <a:ln/>
        </p:spPr>
      </p:sp>
      <p:sp>
        <p:nvSpPr>
          <p:cNvPr id="25" name="Shape 23"/>
          <p:cNvSpPr/>
          <p:nvPr/>
        </p:nvSpPr>
        <p:spPr>
          <a:xfrm>
            <a:off x="7635240" y="2148840"/>
            <a:ext cx="868680" cy="868680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26" name="Text 24"/>
          <p:cNvSpPr/>
          <p:nvPr/>
        </p:nvSpPr>
        <p:spPr>
          <a:xfrm>
            <a:off x="7635240" y="21488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635240" y="32004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 chỉ là CÔNG CỤ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635240" y="37947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DUY mới là gốc rễ.
</a:t>
            </a:r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B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 tư duy tốt thì mới dùng công cụ giỏi. Đừng để công cụ dẫn dắt bạn.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5486400" cy="5486400"/>
          </a:xfrm>
          <a:prstGeom prst="ellipse">
            <a:avLst/>
          </a:prstGeom>
          <a:solidFill>
            <a:srgbClr val="FF5A5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828800"/>
            <a:ext cx="4754880" cy="475488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NGUYÊN TẮC VÀNG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4892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Bí quyết để mỗi content của bạn trở nên VIRAL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9" name="Shape 7"/>
          <p:cNvSpPr/>
          <p:nvPr/>
        </p:nvSpPr>
        <p:spPr>
          <a:xfrm>
            <a:off x="1426464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0" name="Shape 8"/>
          <p:cNvSpPr/>
          <p:nvPr/>
        </p:nvSpPr>
        <p:spPr>
          <a:xfrm>
            <a:off x="1682496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1" name="Shape 9"/>
          <p:cNvSpPr/>
          <p:nvPr/>
        </p:nvSpPr>
        <p:spPr>
          <a:xfrm>
            <a:off x="1938528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NGUYÊN TẮC CONTENT VIRAL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Bắt đầu — Chặn đứng người xem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B8C0D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00300"/>
            <a:ext cx="1005840" cy="10058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003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194560" y="193852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Đúng nỗi đau — gọi thẳng tên vấn đề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194560" y="2450592"/>
            <a:ext cx="9235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Nhắm đúng MỘT đối tượng, không làm màu, không tham lam ôm hết. Nói trúng điều họ đang trăn trở.</a:t>
            </a:r>
            <a:pPr indent="0" marL="0">
              <a:lnSpc>
                <a:spcPts val="2000"/>
              </a:lnSpc>
              <a:buNone/>
            </a:pP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VD: “Đăng 10 bài/ngày mà vẫn không ra đơn?”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325112"/>
            <a:ext cx="1090879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B8C0D6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4988052"/>
            <a:ext cx="1005840" cy="10058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9880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194560" y="45262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Bùng nổ trong 3 giây đầu tiên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194560" y="5038344"/>
            <a:ext cx="9235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giây đầu không phải là VÀNG — mà là KIM CƯƠNG. Đầu xuôi thì đuôi mới lọt. Ấn tượng đầu tiên quyết định người xem dừng lại hay lướt.</a:t>
            </a:r>
            <a:pPr indent="0" marL="0">
              <a:lnSpc>
                <a:spcPts val="2000"/>
              </a:lnSpc>
              <a:buNone/>
            </a:pP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VD: “Bạn tôi từng vỡ nợ — và đây là cách anh ấy trả hết 25 tỷ...”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NGUYÊN TẮC CONTENT VIRAL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Giá trị &amp; Cảm xúc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B8C0D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400300"/>
            <a:ext cx="1005840" cy="10058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003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194560" y="193852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Giá trị thật — xem xong khách nhận được gì?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194560" y="2450592"/>
            <a:ext cx="9235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Đừng làm nội dung vô thưởng vô phạt. Content phải mang giá trị hoặc truyền cảm hứng cho người xem — chứ không chỉ để câu view.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325112"/>
            <a:ext cx="1090879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B8C0D6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4988052"/>
            <a:ext cx="1005840" cy="10058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98805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194560" y="45262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Chạm cảm xúc trước khi dạy kiến thức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194560" y="5038344"/>
            <a:ext cx="9235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xong phải thấy thương, nghẹn ngào, tâm đắc, đáng yêu... Cảm xúc dẫn dắt trước, kiến thức theo sau.</a:t>
            </a:r>
            <a:pPr indent="0" marL="0">
              <a:lnSpc>
                <a:spcPts val="2000"/>
              </a:lnSpc>
              <a:buNone/>
            </a:pP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VD: Xem video “Tam Hoa Sen” — cảm xúc kéo người xem ở lại đến cuối.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NGUYÊN TẮC CONTENT VIRAL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Đơn giản &amp; Nhất quán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B8C0D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75104"/>
            <a:ext cx="1005840" cy="10058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75104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194560" y="193852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Dễ hiểu — Dễ nhớ — Dễ làm theo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194560" y="2450592"/>
            <a:ext cx="92354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Nói sao cho người nghe hiểu ngay, nhớ được và bắt tay làm được.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109087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B8C0D6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712464"/>
            <a:ext cx="1005840" cy="10058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12464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194560" y="367588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Content = 1 Thông điệp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194560" y="4187952"/>
            <a:ext cx="92354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Đừng lan man. Ví dụ làm vlog: mỗi video chỉ tập trung truyền tải MỘT thông điệp duy nhất.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212080"/>
            <a:ext cx="109087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B8C0D6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449824"/>
            <a:ext cx="1005840" cy="10058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449824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2194560" y="541324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 dấu ấn cá nhân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194560" y="5925312"/>
            <a:ext cx="92354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Kể chuyện đời thật của chính bạn — càng chi tiết càng thật, càng thật càng có sức thuyết phục.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NGUYÊN TẮC CONTENT VIRAL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Thuyết phục &amp; Kêu gọi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B8C0D6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75104"/>
            <a:ext cx="1005840" cy="10058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75104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194560" y="193852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Nhiều “điểm gãi đúng chỗ”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194560" y="2450592"/>
            <a:ext cx="92354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Chèn nhiều chi tiết khiến người xem gật gù “đúng rồi, đúng ý mình”.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474720"/>
            <a:ext cx="109087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B8C0D6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3712464"/>
            <a:ext cx="1005840" cy="10058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12464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194560" y="367588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 bằng chứng thật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194560" y="4187952"/>
            <a:ext cx="92354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Khách chỉ xem mà không thấy bằng chứng thì không bao giờ xuống tiền. Hãy đưa kết quả, hình ảnh, con số thật.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212080"/>
            <a:ext cx="10908792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B8C0D6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5449824"/>
            <a:ext cx="1005840" cy="100584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449824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2194560" y="5413248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Luôn có kêu gọi hành động (CTA)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2194560" y="5925312"/>
            <a:ext cx="9235440" cy="612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thúc bằng lời kêu gọi rõ ràng: dẫn vào link, nhắn tin, để lại thông tin.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5486400" cy="5486400"/>
          </a:xfrm>
          <a:prstGeom prst="ellipse">
            <a:avLst/>
          </a:prstGeom>
          <a:solidFill>
            <a:srgbClr val="FF5A5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828800"/>
            <a:ext cx="4754880" cy="475488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SÁT THỦ BÁN HÀNG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4892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duy &amp; kỹ năng để phục vụ mọi loại khách hàng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9" name="Shape 7"/>
          <p:cNvSpPr/>
          <p:nvPr/>
        </p:nvSpPr>
        <p:spPr>
          <a:xfrm>
            <a:off x="1426464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0" name="Shape 8"/>
          <p:cNvSpPr/>
          <p:nvPr/>
        </p:nvSpPr>
        <p:spPr>
          <a:xfrm>
            <a:off x="1682496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1" name="Shape 9"/>
          <p:cNvSpPr/>
          <p:nvPr/>
        </p:nvSpPr>
        <p:spPr>
          <a:xfrm>
            <a:off x="1938528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DUY BÁN HÀNG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Kỹ năng của một “sát thủ bán hàng”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0D6">
                <a:alpha val="4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457200" cy="457200"/>
          </a:xfrm>
          <a:prstGeom prst="ellipse">
            <a:avLst/>
          </a:prstGeom>
          <a:solidFill>
            <a:srgbClr val="141A2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47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783080"/>
            <a:ext cx="9829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vấn bằng sự thấu hiểu   </a:t>
            </a:r>
            <a:pPr indent="0" marL="0">
              <a:buNone/>
            </a:pPr>
            <a:r>
              <a:rPr lang="en-US" sz="14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mình vào vị trí khách, hiểu điều họ thực sự cần trước khi bán.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0D6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843784"/>
            <a:ext cx="457200" cy="457200"/>
          </a:xfrm>
          <a:prstGeom prst="ellipse">
            <a:avLst/>
          </a:prstGeom>
          <a:solidFill>
            <a:srgbClr val="141A2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8437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🛡️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2679192"/>
            <a:ext cx="9829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 tâm lý phục vụ MỌI loại khách   </a:t>
            </a:r>
            <a:pPr indent="0" marL="0">
              <a:buNone/>
            </a:pPr>
            <a:r>
              <a:rPr lang="en-US" sz="14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tinh thần xử lý vấn đề thay vì né tránh khách khó.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575304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0D6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739896"/>
            <a:ext cx="457200" cy="457200"/>
          </a:xfrm>
          <a:prstGeom prst="ellipse">
            <a:avLst/>
          </a:prstGeom>
          <a:solidFill>
            <a:srgbClr val="14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7398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⚙️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3575304"/>
            <a:ext cx="9829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Sản phẩm không bao giờ hoàn hảo   </a:t>
            </a:r>
            <a:pPr indent="0" marL="0">
              <a:buNone/>
            </a:pPr>
            <a:r>
              <a:rPr lang="en-US" sz="14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sản phẩm nào đáp ứng được hết — hãy chủ động chuẩn bị lời giải.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471416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0D6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636008"/>
            <a:ext cx="457200" cy="457200"/>
          </a:xfrm>
          <a:prstGeom prst="ellipse">
            <a:avLst/>
          </a:prstGeom>
          <a:solidFill>
            <a:srgbClr val="14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636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08760" y="4471416"/>
            <a:ext cx="9829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Liệt kê sẵn 20 tình huống   </a:t>
            </a:r>
            <a:pPr indent="0" marL="0">
              <a:buNone/>
            </a:pPr>
            <a:r>
              <a:rPr lang="en-US" sz="14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ra trước 20 tình huống có thể xảy ra với sản phẩm của bạn.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5367528"/>
            <a:ext cx="1090879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B8C0D6">
                <a:alpha val="4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532120"/>
            <a:ext cx="457200" cy="457200"/>
          </a:xfrm>
          <a:prstGeom prst="ellipse">
            <a:avLst/>
          </a:prstGeom>
          <a:solidFill>
            <a:srgbClr val="14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532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❓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5367528"/>
            <a:ext cx="98298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 câu hỏi để GIỮ khách   </a:t>
            </a:r>
            <a:pPr indent="0" marL="0">
              <a:buNone/>
            </a:pPr>
            <a:r>
              <a:rPr lang="en-US" sz="1400" dirty="0">
                <a:solidFill>
                  <a:srgbClr val="6C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Hỏi không phải để bán ngay — mà để giữ khách ở lại lâu hơn.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3291840"/>
            <a:ext cx="5486400" cy="5486400"/>
          </a:xfrm>
          <a:prstGeom prst="ellipse">
            <a:avLst/>
          </a:prstGeom>
          <a:solidFill>
            <a:srgbClr val="FF5A5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828800"/>
            <a:ext cx="4754880" cy="4754880"/>
          </a:xfrm>
          <a:prstGeom prst="ellipse">
            <a:avLst/>
          </a:prstGeom>
          <a:solidFill>
            <a:srgbClr val="FFC93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5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68680" y="3246120"/>
            <a:ext cx="10241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THỨC HOOK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48920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A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chân khách hàng ngay từ câu nói đầu tiên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914400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9" name="Shape 7"/>
          <p:cNvSpPr/>
          <p:nvPr/>
        </p:nvSpPr>
        <p:spPr>
          <a:xfrm>
            <a:off x="1426464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0" name="Shape 8"/>
          <p:cNvSpPr/>
          <p:nvPr/>
        </p:nvSpPr>
        <p:spPr>
          <a:xfrm>
            <a:off x="1682496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11" name="Shape 9"/>
          <p:cNvSpPr/>
          <p:nvPr/>
        </p:nvSpPr>
        <p:spPr>
          <a:xfrm>
            <a:off x="1938528" y="5669280"/>
            <a:ext cx="109728" cy="109728"/>
          </a:xfrm>
          <a:prstGeom prst="ellipse">
            <a:avLst/>
          </a:prstGeom>
          <a:solidFill>
            <a:srgbClr val="FFC93C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572000"/>
            <a:ext cx="3657600" cy="3657600"/>
          </a:xfrm>
          <a:prstGeom prst="ellipse">
            <a:avLst/>
          </a:prstGeom>
          <a:solidFill>
            <a:srgbClr val="FF5A5F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280160" cy="128016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🔄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TÔI TỪNG SAI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348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051560"/>
            <a:ext cx="7223760" cy="1051560"/>
          </a:xfrm>
          <a:prstGeom prst="roundRect">
            <a:avLst>
              <a:gd name="adj" fmla="val 8696"/>
            </a:avLst>
          </a:prstGeom>
          <a:solidFill>
            <a:srgbClr val="EEF1F8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05156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Tôi từng + [sai lầm cụ thể] + cho đến khi...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80560" y="2532888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4231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người thích xem sự CHUYỂN ĐỔI: từ thất bại → thành công.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80560" y="3374136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326440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Càng cụ thể (con số, thời gian, tình huống) càng thật.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80560" y="4215384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4105656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Càng thật thì càng giữ chân người xem đến cuối.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34840" y="5623560"/>
            <a:ext cx="7223760" cy="914400"/>
          </a:xfrm>
          <a:prstGeom prst="roundRect">
            <a:avLst>
              <a:gd name="adj" fmla="val 10000"/>
            </a:avLst>
          </a:prstGeom>
          <a:solidFill>
            <a:srgbClr val="14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5623560"/>
            <a:ext cx="6720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“Tôi từng làm affiliate 6 tháng không ra 1 đơn, cho đến khi tôi phát hiện ra một thứ trong video...”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572000"/>
            <a:ext cx="3657600" cy="3657600"/>
          </a:xfrm>
          <a:prstGeom prst="ellipse">
            <a:avLst/>
          </a:prstGeom>
          <a:solidFill>
            <a:srgbClr val="FF5A5F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280160" cy="128016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🚫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ĐỪNG MUA NẾU...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348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051560"/>
            <a:ext cx="7223760" cy="1051560"/>
          </a:xfrm>
          <a:prstGeom prst="roundRect">
            <a:avLst>
              <a:gd name="adj" fmla="val 8696"/>
            </a:avLst>
          </a:prstGeom>
          <a:solidFill>
            <a:srgbClr val="EEF1F8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05156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Đừng mua nếu... bạn không muốn [kết quả]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80560" y="2532888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4231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“Cấm nhẹ” một cách khéo léo → gây tò mò mạnh mẽ.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80560" y="3374136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326440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Tâm lý con người: càng bị cấm cái gì, càng muốn cái đó.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80560" y="4215384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4105656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xem tự thuyết phục chính mình muốn tìm hiểu tiếp.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34840" y="5623560"/>
            <a:ext cx="7223760" cy="914400"/>
          </a:xfrm>
          <a:prstGeom prst="roundRect">
            <a:avLst>
              <a:gd name="adj" fmla="val 10000"/>
            </a:avLst>
          </a:prstGeom>
          <a:solidFill>
            <a:srgbClr val="14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5623560"/>
            <a:ext cx="6720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“Đừng mua khoá học này nếu bạn không muốn bán được hàng.”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572000"/>
            <a:ext cx="3657600" cy="3657600"/>
          </a:xfrm>
          <a:prstGeom prst="ellipse">
            <a:avLst/>
          </a:prstGeom>
          <a:solidFill>
            <a:srgbClr val="FF5A5F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280160" cy="128016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🤫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SỰ THẬT ÍT AI NÓI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348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051560"/>
            <a:ext cx="7223760" cy="1051560"/>
          </a:xfrm>
          <a:prstGeom prst="roundRect">
            <a:avLst>
              <a:gd name="adj" fmla="val 8696"/>
            </a:avLst>
          </a:prstGeom>
          <a:solidFill>
            <a:srgbClr val="EEF1F8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05156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Sự thật về... mà [người bán] không nói cho bạn biết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80560" y="2532888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4231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Người xem thích cảm giác được ở “phe nội bộ”.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80560" y="3374136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326440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 muốn biết điều mà số đông không biết.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80560" y="4215384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4105656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Nhưng PHẢI là sự thật — nói dối là mất uy tín ngay từ đầu.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34840" y="5623560"/>
            <a:ext cx="7223760" cy="914400"/>
          </a:xfrm>
          <a:prstGeom prst="roundRect">
            <a:avLst>
              <a:gd name="adj" fmla="val 10000"/>
            </a:avLst>
          </a:prstGeom>
          <a:solidFill>
            <a:srgbClr val="14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5623560"/>
            <a:ext cx="6720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“Sự thật về ngành này mà không một người bán hàng nào nói cho bạn biết.”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572000"/>
            <a:ext cx="3657600" cy="3657600"/>
          </a:xfrm>
          <a:prstGeom prst="ellipse">
            <a:avLst/>
          </a:prstGeom>
          <a:solidFill>
            <a:srgbClr val="FF5A5F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280160" cy="128016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⚖️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SÁNH GÂY TÒ MÒ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348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051560"/>
            <a:ext cx="7223760" cy="1051560"/>
          </a:xfrm>
          <a:prstGeom prst="roundRect">
            <a:avLst>
              <a:gd name="adj" fmla="val 8696"/>
            </a:avLst>
          </a:prstGeom>
          <a:solidFill>
            <a:srgbClr val="EEF1F8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05156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[Giá thấp]... nhưng nhìn như [giá trị cao]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80560" y="2532888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4231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bộ bị hấp dẫn bởi sự CHÊNH LỆCH.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80560" y="3374136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326440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Khoảng cách giữa giá &amp; giá trị tạo cảm giác “hời”.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80560" y="4215384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4105656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Chênh lệch phải đủ lớn (3–5 lần) và chứng minh được ngay.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34840" y="5623560"/>
            <a:ext cx="7223760" cy="914400"/>
          </a:xfrm>
          <a:prstGeom prst="roundRect">
            <a:avLst>
              <a:gd name="adj" fmla="val 10000"/>
            </a:avLst>
          </a:prstGeom>
          <a:solidFill>
            <a:srgbClr val="14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5623560"/>
            <a:ext cx="6720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“700k nhưng nhìn như 5 triệu.”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6858000"/>
          </a:xfrm>
          <a:prstGeom prst="rect">
            <a:avLst/>
          </a:prstGeom>
          <a:solidFill>
            <a:srgbClr val="141A2E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572000"/>
            <a:ext cx="3657600" cy="3657600"/>
          </a:xfrm>
          <a:prstGeom prst="ellipse">
            <a:avLst/>
          </a:prstGeom>
          <a:solidFill>
            <a:srgbClr val="FF5A5F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6400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280160" cy="128016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🪞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3246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CÁI TÔI CỦA KHÁCH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434840" y="685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5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THỨC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1051560"/>
            <a:ext cx="7223760" cy="1051560"/>
          </a:xfrm>
          <a:prstGeom prst="roundRect">
            <a:avLst>
              <a:gd name="adj" fmla="val 8696"/>
            </a:avLst>
          </a:prstGeom>
          <a:solidFill>
            <a:srgbClr val="EEF1F8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051560"/>
            <a:ext cx="6675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1E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Nếu bạn là [1 kiểu người]... → cái này dành cho bạn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480560" y="2532888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242316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Gọi đúng tên, đúng nỗi đau → khách thấy “video này dành riêng cho mình”.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80560" y="3374136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3264408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Lợi ích kép: giữ đúng khách mục tiêu + đuổi khéo khách không liên quan.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80560" y="4215384"/>
            <a:ext cx="182880" cy="182880"/>
          </a:xfrm>
          <a:prstGeom prst="ellipse">
            <a:avLst/>
          </a:prstGeom>
          <a:solidFill>
            <a:srgbClr val="FF5A5F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4105656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1E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Thuật toán hiểu và đề xuất đúng tệp khách hơn.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34840" y="5623560"/>
            <a:ext cx="7223760" cy="914400"/>
          </a:xfrm>
          <a:prstGeom prst="roundRect">
            <a:avLst>
              <a:gd name="adj" fmla="val 10000"/>
            </a:avLst>
          </a:prstGeom>
          <a:solidFill>
            <a:srgbClr val="141A2E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5623560"/>
            <a:ext cx="6720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  </a:t>
            </a:r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“Nếu bạn làm affiliate mà chưa hiệu quả — video này dành cho bạn.”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6035040" cy="6035040"/>
          </a:xfrm>
          <a:prstGeom prst="ellipse">
            <a:avLst/>
          </a:prstGeom>
          <a:solidFill>
            <a:srgbClr val="FFC93C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3840480"/>
            <a:ext cx="4937760" cy="4937760"/>
          </a:xfrm>
          <a:prstGeom prst="ellipse">
            <a:avLst/>
          </a:prstGeom>
          <a:solidFill>
            <a:srgbClr val="FF5A5F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85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NHỚ &amp; HÀNH ĐỘNG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ra tiền = ?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731520" y="214884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E274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488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 nỗi đau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18688" y="2148840"/>
            <a:ext cx="274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93008" y="214884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E2742"/>
          </a:solidFill>
          <a:ln/>
        </p:spPr>
      </p:sp>
      <p:sp>
        <p:nvSpPr>
          <p:cNvPr id="10" name="Text 8"/>
          <p:cNvSpPr/>
          <p:nvPr/>
        </p:nvSpPr>
        <p:spPr>
          <a:xfrm>
            <a:off x="3630168" y="21488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Chạm cảm xúc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80176" y="2148840"/>
            <a:ext cx="274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254496" y="214884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E2742"/>
          </a:solidFill>
          <a:ln/>
        </p:spPr>
      </p:sp>
      <p:sp>
        <p:nvSpPr>
          <p:cNvPr id="13" name="Text 11"/>
          <p:cNvSpPr/>
          <p:nvPr/>
        </p:nvSpPr>
        <p:spPr>
          <a:xfrm>
            <a:off x="6391656" y="21488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Bằng chứng thật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741664" y="2148840"/>
            <a:ext cx="274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C9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015984" y="214884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E2742"/>
          </a:solidFill>
          <a:ln/>
        </p:spPr>
      </p:sp>
      <p:sp>
        <p:nvSpPr>
          <p:cNvPr id="16" name="Text 14"/>
          <p:cNvSpPr/>
          <p:nvPr/>
        </p:nvSpPr>
        <p:spPr>
          <a:xfrm>
            <a:off x="9153144" y="2148840"/>
            <a:ext cx="2240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Kêu gọi hành động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611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duy trước, công cụ sau.  </a:t>
            </a:r>
            <a:pPr indent="0" marL="0">
              <a:buNone/>
            </a:pPr>
            <a:r>
              <a:rPr lang="en-US" sz="1800" dirty="0">
                <a:solidFill>
                  <a:srgbClr val="CBD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là trợ thủ — bạn mới là người cầm lái.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" y="4526280"/>
            <a:ext cx="10725912" cy="1508760"/>
          </a:xfrm>
          <a:prstGeom prst="roundRect">
            <a:avLst>
              <a:gd name="adj" fmla="val 7273"/>
            </a:avLst>
          </a:prstGeom>
          <a:solidFill>
            <a:srgbClr val="FF5A5F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4709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  Bài tập tối nay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51560" y="52120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ngay 1 content theo 1 trong 5 công thức HOOK — và đăng lên!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 Thay Content</dc:title>
  <dc:subject>PptxGenJS Presentation</dc:subject>
  <dc:creator>Lop Cong Dong</dc:creator>
  <cp:lastModifiedBy>Lop Cong Dong</cp:lastModifiedBy>
  <cp:revision>1</cp:revision>
  <dcterms:created xsi:type="dcterms:W3CDTF">2026-08-08T03:09:42Z</dcterms:created>
  <dcterms:modified xsi:type="dcterms:W3CDTF">2026-08-08T03:09:42Z</dcterms:modified>
</cp:coreProperties>
</file>